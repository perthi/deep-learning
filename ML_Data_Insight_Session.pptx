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3" r:id="rId5"/>
    <p:sldMasterId id="2147483673" r:id="rId6"/>
    <p:sldMasterId id="2147483683" r:id="rId7"/>
    <p:sldMasterId id="2147483693" r:id="rId8"/>
  </p:sldMasterIdLst>
  <p:notesMasterIdLst>
    <p:notesMasterId r:id="rId14"/>
  </p:notesMasterIdLst>
  <p:handoutMasterIdLst>
    <p:handoutMasterId r:id="rId15"/>
  </p:handoutMasterIdLst>
  <p:sldIdLst>
    <p:sldId id="427" r:id="rId9"/>
    <p:sldId id="434" r:id="rId10"/>
    <p:sldId id="438" r:id="rId11"/>
    <p:sldId id="439" r:id="rId12"/>
    <p:sldId id="426" r:id="rId13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ansen, Christian Kalvik" initials="JCK" lastIdx="6" clrIdx="0">
    <p:extLst>
      <p:ext uri="{19B8F6BF-5375-455C-9EA6-DF929625EA0E}">
        <p15:presenceInfo xmlns:p15="http://schemas.microsoft.com/office/powerpoint/2012/main" userId="S-1-5-21-299502267-1078145449-1343024091-191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F900C5"/>
    <a:srgbClr val="3C00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0B233-4634-4615-8A79-18A7B3457BDB}" type="datetimeFigureOut">
              <a:rPr lang="nb-NO" smtClean="0"/>
              <a:t>03.02.2017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61EA6-3AAA-4212-BC76-30499A3675E2}" type="slidenum">
              <a:rPr lang="nb-NO" smtClean="0"/>
              <a:t>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CCF7F-4B59-4CC5-8C56-383F82B3D07D}" type="datetimeFigureOut">
              <a:rPr lang="nb-NO" smtClean="0"/>
              <a:t>03.02.2017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4EFD2-EA51-4D4D-96F8-0529DD40C4E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Neuzeit S LT Std Book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3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2" cy="686970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15448" y="6184398"/>
            <a:ext cx="889000" cy="2286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72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69706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052737"/>
            <a:ext cx="3744416" cy="4248472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b-NO"/>
              <a:t>Innhold/agenda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48200" y="1052737"/>
            <a:ext cx="3956248" cy="4248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07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00200"/>
            <a:ext cx="8064896" cy="452596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9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552" y="1600200"/>
            <a:ext cx="8064896" cy="4525963"/>
          </a:xfrm>
        </p:spPr>
        <p:txBody>
          <a:bodyPr numCol="2" spcCol="360000">
            <a:normAutofit/>
          </a:bodyPr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nb-NO"/>
              <a:t>Mengdetekst over 2 kolonner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3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8200" y="1600200"/>
            <a:ext cx="3956248" cy="45259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00200"/>
            <a:ext cx="3956248" cy="45259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247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3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94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973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08519" y="465286"/>
            <a:ext cx="4435289" cy="683228"/>
          </a:xfrm>
          <a:gradFill>
            <a:gsLst>
              <a:gs pos="0">
                <a:srgbClr val="DD192B"/>
              </a:gs>
              <a:gs pos="100000">
                <a:srgbClr val="C41627"/>
              </a:gs>
            </a:gsLst>
            <a:lin ang="5400000" scaled="0"/>
          </a:gradFill>
          <a:ln>
            <a:noFill/>
          </a:ln>
          <a:effectLst>
            <a:outerShdw dist="38100" dir="2700000" algn="ctr" rotWithShape="0">
              <a:schemeClr val="tx1">
                <a:lumMod val="75000"/>
                <a:lumOff val="25000"/>
              </a:schemeClr>
            </a:outerShdw>
          </a:effectLst>
        </p:spPr>
        <p:txBody>
          <a:bodyPr wrap="none" tIns="144000" rIns="216000" bIns="144000">
            <a:spAutoFit/>
          </a:bodyPr>
          <a:lstStyle>
            <a:lvl1pPr marL="405000" algn="l">
              <a:defRPr sz="2550" baseline="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rgbClr val="ECECEC"/>
                    </a:gs>
                  </a:gsLst>
                  <a:lin ang="5400000" scaled="0"/>
                </a:gradFill>
                <a:effectLst>
                  <a:outerShdw dist="12700" dir="1200000" algn="ctr" rotWithShape="0">
                    <a:srgbClr val="800E19"/>
                  </a:outerShdw>
                </a:effectLst>
              </a:defRPr>
            </a:lvl1pPr>
          </a:lstStyle>
          <a:p>
            <a:r>
              <a:rPr lang="en-US"/>
              <a:t>Default slide title</a:t>
            </a:r>
            <a:endParaRPr lang="nb-NO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7544" y="1567333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43000" indent="-24300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ct val="140000"/>
              <a:buFont typeface="Arial" pitchFamily="34" charset="0"/>
              <a:buChar char="•"/>
              <a:defRPr sz="1650" baseline="0">
                <a:solidFill>
                  <a:srgbClr val="363636"/>
                </a:solidFill>
              </a:defRPr>
            </a:lvl1pPr>
            <a:lvl2pPr>
              <a:defRPr baseline="0"/>
            </a:lvl2pPr>
          </a:lstStyle>
          <a:p>
            <a:pPr lvl="0"/>
            <a:r>
              <a:rPr lang="en-US"/>
              <a:t>New line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6291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Neuzeit S LT Std Book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95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69706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0">
                <a:schemeClr val="accent3"/>
              </a:gs>
            </a:gsLst>
            <a:lin ang="162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5448" y="6184398"/>
            <a:ext cx="889000" cy="2286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69782" y="19260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6760" y="315422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00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0" cy="6869706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0">
                <a:schemeClr val="accent3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052737"/>
            <a:ext cx="3744416" cy="4248472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b-NO"/>
              <a:t>Innhold/agenda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48200" y="1052737"/>
            <a:ext cx="3956248" cy="4248473"/>
          </a:xfrm>
        </p:spPr>
        <p:txBody>
          <a:bodyPr/>
          <a:lstStyle>
            <a:lvl1pPr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72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00200"/>
            <a:ext cx="8064896" cy="4525963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4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552" y="1600200"/>
            <a:ext cx="8064896" cy="4525963"/>
          </a:xfrm>
        </p:spPr>
        <p:txBody>
          <a:bodyPr numCol="2" spcCol="360000">
            <a:normAutofit/>
          </a:bodyPr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nb-NO"/>
              <a:t>Mengdetekst over 2 kolonner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3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8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24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74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22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27688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67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9144000" cy="6869706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3"/>
              </a:gs>
            </a:gsLst>
            <a:lin ang="162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5448" y="6184398"/>
            <a:ext cx="889000" cy="2286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69782" y="19260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6760" y="315422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10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0" cy="6869706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3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052737"/>
            <a:ext cx="3744416" cy="4248472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b-NO"/>
              <a:t>Innhold/agenda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48200" y="1052737"/>
            <a:ext cx="3956248" cy="4248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05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00200"/>
            <a:ext cx="8064896" cy="452596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14280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84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552" y="1600200"/>
            <a:ext cx="8064896" cy="4525963"/>
          </a:xfrm>
        </p:spPr>
        <p:txBody>
          <a:bodyPr numCol="2" spcCol="360000">
            <a:normAutofit/>
          </a:bodyPr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nb-NO"/>
              <a:t>Mengdetekst over 2 kolonner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41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8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5831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144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9542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4081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1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69706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5"/>
              </a:gs>
            </a:gsLst>
            <a:lin ang="162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5448" y="6184398"/>
            <a:ext cx="889000" cy="2286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69782" y="19260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6760" y="315422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937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499992" cy="6869706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5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052737"/>
            <a:ext cx="3744416" cy="4248472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b-NO"/>
              <a:t>Innhold/agenda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48200" y="1052737"/>
            <a:ext cx="3956248" cy="4248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11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00200"/>
            <a:ext cx="8064896" cy="452596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38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552" y="1600200"/>
            <a:ext cx="8064896" cy="4525963"/>
          </a:xfrm>
        </p:spPr>
        <p:txBody>
          <a:bodyPr numCol="2" spcCol="360000">
            <a:normAutofit/>
          </a:bodyPr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nb-NO"/>
              <a:t>Mengdetekst over 2 kolonner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08725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930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8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77769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9552" y="6347619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821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149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22932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25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9144000" cy="6869706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5"/>
              </a:gs>
            </a:gsLst>
            <a:lin ang="162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5448" y="6184398"/>
            <a:ext cx="889000" cy="2286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539552" y="764704"/>
            <a:ext cx="8064896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9552" y="2234729"/>
            <a:ext cx="8064896" cy="1752600"/>
          </a:xfrm>
          <a:noFill/>
          <a:ln>
            <a:noFill/>
          </a:ln>
        </p:spPr>
        <p:txBody>
          <a:bodyPr/>
          <a:lstStyle>
            <a:lvl1pPr marL="0" indent="0" algn="l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69782" y="19260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6760" y="315422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204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499992" cy="6869706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5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052737"/>
            <a:ext cx="3744416" cy="4248472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b-NO"/>
              <a:t>Innhold/agenda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01360" y="41914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48200" y="1052737"/>
            <a:ext cx="3956248" cy="4248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396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00200"/>
            <a:ext cx="8064896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5575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552" y="1600200"/>
            <a:ext cx="8064896" cy="4525963"/>
          </a:xfrm>
        </p:spPr>
        <p:txBody>
          <a:bodyPr numCol="2" spcCol="360000">
            <a:normAutofit/>
          </a:bodyPr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nb-NO"/>
              <a:t>Mengdetekst over 2 kolonner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71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8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00200"/>
            <a:ext cx="39562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9093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909793-4C29-CA47-B92F-AA2CB441F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739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9646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181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42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064896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600200"/>
            <a:ext cx="806489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77800" cy="68697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15448" y="6185930"/>
            <a:ext cx="889000" cy="228600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29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0" r:id="rId3"/>
    <p:sldLayoutId id="2147483650" r:id="rId4"/>
    <p:sldLayoutId id="2147483661" r:id="rId5"/>
    <p:sldLayoutId id="2147483652" r:id="rId6"/>
    <p:sldLayoutId id="2147483654" r:id="rId7"/>
    <p:sldLayoutId id="2147483655" r:id="rId8"/>
    <p:sldLayoutId id="2147483657" r:id="rId9"/>
    <p:sldLayoutId id="2147483703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064896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600200"/>
            <a:ext cx="806489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15448" y="6185930"/>
            <a:ext cx="889000" cy="228600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79512" cy="6858000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0">
                <a:schemeClr val="accent3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0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064896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600200"/>
            <a:ext cx="806489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15448" y="6185930"/>
            <a:ext cx="889000" cy="228600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Neuzeit S LT Std Book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79512" cy="68580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3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4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064896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600200"/>
            <a:ext cx="806489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15448" y="6185930"/>
            <a:ext cx="889000" cy="228600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Neuzeit S LT Std Book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79512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5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8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064896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600200"/>
            <a:ext cx="806489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15448" y="6185930"/>
            <a:ext cx="889000" cy="228600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93" y="61653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Neuzeit S LT Std Book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79512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5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2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/>
              <a:t>The Challenge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6417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Formål med øvelse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Skape intuisjon rundt kombinasjoner av </a:t>
            </a:r>
            <a:r>
              <a:rPr lang="nb-NO" err="1"/>
              <a:t>features</a:t>
            </a:r>
            <a:endParaRPr lang="nb-NO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Utforske metoder for å avdekke sammenhenger mellom </a:t>
            </a:r>
            <a:r>
              <a:rPr lang="nb-NO" err="1"/>
              <a:t>features</a:t>
            </a:r>
            <a:endParaRPr lang="nb-NO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Finne gode måter å visualisere sammenhenger på – </a:t>
            </a:r>
            <a:r>
              <a:rPr lang="nb-NO" err="1"/>
              <a:t>scatterplots</a:t>
            </a:r>
            <a:r>
              <a:rPr lang="nb-NO"/>
              <a:t>++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Se på statistikk/sammenhenger i data</a:t>
            </a:r>
          </a:p>
        </p:txBody>
      </p:sp>
    </p:spTree>
    <p:extLst>
      <p:ext uri="{BB962C8B-B14F-4D97-AF65-F5344CB8AC3E}">
        <p14:creationId xmlns:p14="http://schemas.microsoft.com/office/powerpoint/2010/main" val="301843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Datasettet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Predikere Y med utgangspunkt i noen få </a:t>
            </a:r>
            <a:r>
              <a:rPr lang="nb-NO" err="1"/>
              <a:t>features</a:t>
            </a:r>
            <a:r>
              <a:rPr lang="nb-NO"/>
              <a:t>, x1…x3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 err="1"/>
              <a:t>Ca</a:t>
            </a:r>
            <a:r>
              <a:rPr lang="nb-NO"/>
              <a:t> 1000 rader</a:t>
            </a:r>
          </a:p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9793-4C29-CA47-B92F-AA2CB441F8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8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Hvordan?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Start med linear </a:t>
            </a:r>
            <a:r>
              <a:rPr lang="nb-NO" err="1"/>
              <a:t>regression</a:t>
            </a:r>
            <a:r>
              <a:rPr lang="nb-NO"/>
              <a:t>, men ikke begrenset til det.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Bruk R, </a:t>
            </a:r>
            <a:r>
              <a:rPr lang="nb-NO" err="1"/>
              <a:t>Phyton</a:t>
            </a:r>
            <a:r>
              <a:rPr lang="nb-NO"/>
              <a:t>, </a:t>
            </a:r>
            <a:r>
              <a:rPr lang="nb-NO" err="1"/>
              <a:t>Matlab</a:t>
            </a:r>
            <a:r>
              <a:rPr lang="nb-NO"/>
              <a:t>, </a:t>
            </a:r>
            <a:r>
              <a:rPr lang="nb-NO" err="1"/>
              <a:t>whatever</a:t>
            </a:r>
            <a:r>
              <a:rPr lang="nb-NO"/>
              <a:t> av språk el. </a:t>
            </a:r>
            <a:r>
              <a:rPr lang="nb-NO" err="1"/>
              <a:t>Libs</a:t>
            </a:r>
            <a:endParaRPr lang="nb-NO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/>
              <a:t>Se på visualiseringer eller andre metoder for identifisering av sammenhenger</a:t>
            </a:r>
          </a:p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9793-4C29-CA47-B92F-AA2CB441F8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91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/>
              <a:t>Gjennomføring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147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met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3C0095"/>
      </a:accent1>
      <a:accent2>
        <a:srgbClr val="F900C5"/>
      </a:accent2>
      <a:accent3>
        <a:srgbClr val="FFF000"/>
      </a:accent3>
      <a:accent4>
        <a:srgbClr val="00D6A1"/>
      </a:accent4>
      <a:accent5>
        <a:srgbClr val="00F5FF"/>
      </a:accent5>
      <a:accent6>
        <a:srgbClr val="8D8E8D"/>
      </a:accent6>
      <a:hlink>
        <a:srgbClr val="F900C5"/>
      </a:hlink>
      <a:folHlink>
        <a:srgbClr val="8D8E8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Inmeta template" id="{4303CB7D-6142-4E4F-A102-DFBAF588290D}" vid="{876403CF-94A1-45D1-B1DA-4C734633771F}"/>
    </a:ext>
  </a:extLst>
</a:theme>
</file>

<file path=ppt/theme/theme2.xml><?xml version="1.0" encoding="utf-8"?>
<a:theme xmlns:a="http://schemas.openxmlformats.org/drawingml/2006/main" name="1_Office Theme">
  <a:themeElements>
    <a:clrScheme name="Inmet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3C0095"/>
      </a:accent1>
      <a:accent2>
        <a:srgbClr val="F900C5"/>
      </a:accent2>
      <a:accent3>
        <a:srgbClr val="FFF000"/>
      </a:accent3>
      <a:accent4>
        <a:srgbClr val="00D6A1"/>
      </a:accent4>
      <a:accent5>
        <a:srgbClr val="00F5FF"/>
      </a:accent5>
      <a:accent6>
        <a:srgbClr val="8D8E8D"/>
      </a:accent6>
      <a:hlink>
        <a:srgbClr val="F900C5"/>
      </a:hlink>
      <a:folHlink>
        <a:srgbClr val="8D8E8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Inmeta template" id="{4303CB7D-6142-4E4F-A102-DFBAF588290D}" vid="{3655F32E-E0A4-4EB4-AF06-F4E3D30C92D1}"/>
    </a:ext>
  </a:extLst>
</a:theme>
</file>

<file path=ppt/theme/theme3.xml><?xml version="1.0" encoding="utf-8"?>
<a:theme xmlns:a="http://schemas.openxmlformats.org/drawingml/2006/main" name="2_Office Theme">
  <a:themeElements>
    <a:clrScheme name="Inmet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3C0095"/>
      </a:accent1>
      <a:accent2>
        <a:srgbClr val="F900C5"/>
      </a:accent2>
      <a:accent3>
        <a:srgbClr val="FFF000"/>
      </a:accent3>
      <a:accent4>
        <a:srgbClr val="00D6A1"/>
      </a:accent4>
      <a:accent5>
        <a:srgbClr val="00F5FF"/>
      </a:accent5>
      <a:accent6>
        <a:srgbClr val="8D8E8D"/>
      </a:accent6>
      <a:hlink>
        <a:srgbClr val="F900C5"/>
      </a:hlink>
      <a:folHlink>
        <a:srgbClr val="8D8E8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Inmeta template" id="{4303CB7D-6142-4E4F-A102-DFBAF588290D}" vid="{5C6C3FB3-A457-41B9-BD4D-DD39C94A63BE}"/>
    </a:ext>
  </a:extLst>
</a:theme>
</file>

<file path=ppt/theme/theme4.xml><?xml version="1.0" encoding="utf-8"?>
<a:theme xmlns:a="http://schemas.openxmlformats.org/drawingml/2006/main" name="3_Office Theme">
  <a:themeElements>
    <a:clrScheme name="Inmet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3C0095"/>
      </a:accent1>
      <a:accent2>
        <a:srgbClr val="F900C5"/>
      </a:accent2>
      <a:accent3>
        <a:srgbClr val="FFF000"/>
      </a:accent3>
      <a:accent4>
        <a:srgbClr val="00D6A1"/>
      </a:accent4>
      <a:accent5>
        <a:srgbClr val="00F5FF"/>
      </a:accent5>
      <a:accent6>
        <a:srgbClr val="8D8E8D"/>
      </a:accent6>
      <a:hlink>
        <a:srgbClr val="F900C5"/>
      </a:hlink>
      <a:folHlink>
        <a:srgbClr val="8D8E8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Inmeta template" id="{4303CB7D-6142-4E4F-A102-DFBAF588290D}" vid="{A8A35931-5097-409B-888C-0894E0BB330E}"/>
    </a:ext>
  </a:extLst>
</a:theme>
</file>

<file path=ppt/theme/theme5.xml><?xml version="1.0" encoding="utf-8"?>
<a:theme xmlns:a="http://schemas.openxmlformats.org/drawingml/2006/main" name="4_Office Theme">
  <a:themeElements>
    <a:clrScheme name="Inmet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3C0095"/>
      </a:accent1>
      <a:accent2>
        <a:srgbClr val="F900C5"/>
      </a:accent2>
      <a:accent3>
        <a:srgbClr val="FFF000"/>
      </a:accent3>
      <a:accent4>
        <a:srgbClr val="00D6A1"/>
      </a:accent4>
      <a:accent5>
        <a:srgbClr val="00F5FF"/>
      </a:accent5>
      <a:accent6>
        <a:srgbClr val="8D8E8D"/>
      </a:accent6>
      <a:hlink>
        <a:srgbClr val="F900C5"/>
      </a:hlink>
      <a:folHlink>
        <a:srgbClr val="8D8E8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Inmeta template" id="{4303CB7D-6142-4E4F-A102-DFBAF588290D}" vid="{31C774E0-4B7E-40BE-8379-6EBA75E3948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792E04AE37334FA961D971821F5CA0" ma:contentTypeVersion="2" ma:contentTypeDescription="Create a new document." ma:contentTypeScope="" ma:versionID="b88b37f0f94a6e26e42ab3eb73371a06">
  <xsd:schema xmlns:xsd="http://www.w3.org/2001/XMLSchema" xmlns:xs="http://www.w3.org/2001/XMLSchema" xmlns:p="http://schemas.microsoft.com/office/2006/metadata/properties" xmlns:ns2="4e88248a-5527-43af-bf92-4eb4c2757641" targetNamespace="http://schemas.microsoft.com/office/2006/metadata/properties" ma:root="true" ma:fieldsID="e4b7906a7ac4ff9b6d504edd4359304a" ns2:_="">
    <xsd:import namespace="4e88248a-5527-43af-bf92-4eb4c275764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8248a-5527-43af-bf92-4eb4c275764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CF270D92-C883-4538-9B99-CC116C2E5E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06E798-0174-483E-9E31-C94C28D8F028}"/>
</file>

<file path=customXml/itemProps3.xml><?xml version="1.0" encoding="utf-8"?>
<ds:datastoreItem xmlns:ds="http://schemas.openxmlformats.org/officeDocument/2006/customXml" ds:itemID="{8371CA9D-55D4-462D-A6BF-58E25F9527F2}">
  <ds:schemaRefs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Office Theme</vt:lpstr>
      <vt:lpstr>1_Office Theme</vt:lpstr>
      <vt:lpstr>2_Office Theme</vt:lpstr>
      <vt:lpstr>3_Office Theme</vt:lpstr>
      <vt:lpstr>4_Office Theme</vt:lpstr>
      <vt:lpstr>The Challenge</vt:lpstr>
      <vt:lpstr>Formål med øvelse</vt:lpstr>
      <vt:lpstr>Datasettet</vt:lpstr>
      <vt:lpstr>Hvordan?</vt:lpstr>
      <vt:lpstr>Gjennomføring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Challenge</dc:title>
  <cp:revision>1</cp:revision>
  <dcterms:modified xsi:type="dcterms:W3CDTF">2017-02-03T12:11:27Z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0x01010098792E04AE37334FA961D971821F5CA0</vt:lpwstr>
  </property>
  <property fmtid="{D5CDD505-2E9C-101B-9397-08002B2CF9AE}" pid="3" name="IsMyDocuments">
    <vt:bool>true</vt:bool>
  </property>
</Properties>
</file>